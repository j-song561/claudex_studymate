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3A29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3A29"/>
                </a:solidFill>
                <a:latin typeface="Calibri"/>
              </a:rPr>
              <a:t>Gross revenue — Base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</c:v>
                </c:pt>
              </c:strCache>
            </c:strRef>
          </c:tx>
          <c:spPr>
            <a:solidFill>
              <a:srgbClr val="E8A0A8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2A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113366</c:v>
                </c:pt>
                <c:pt idx="1">
                  <c:v>57933</c:v>
                </c:pt>
                <c:pt idx="2">
                  <c:v>35760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2A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A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5B3A29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2A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QA</c:v>
                  </c:pt>
                  <c:pt idx="1">
                    <c:v>Sound</c:v>
                  </c:pt>
                  <c:pt idx="2">
                    <c:v>Tools, legal, localization</c:v>
                  </c:pt>
                  <c:pt idx="3">
                    <c:v>Contingency (10%)</c:v>
                  </c:pt>
                  <c:pt idx="4">
                    <c:v>Marketing &amp; launch</c:v>
                  </c:pt>
                  <c:pt idx="5">
                    <c:v>Game design</c:v>
                  </c:pt>
                  <c:pt idx="6">
                    <c:v>Art (furniture &amp; UI)</c:v>
                  </c:pt>
                  <c:pt idx="7">
                    <c:v>Programming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2400</c:v>
                </c:pt>
                <c:pt idx="1">
                  <c:v>3000</c:v>
                </c:pt>
                <c:pt idx="2">
                  <c:v>4000</c:v>
                </c:pt>
                <c:pt idx="3">
                  <c:v>6780</c:v>
                </c:pt>
                <c:pt idx="4">
                  <c:v>10000</c:v>
                </c:pt>
                <c:pt idx="5">
                  <c:v>10800</c:v>
                </c:pt>
                <c:pt idx="6">
                  <c:v>16000</c:v>
                </c:pt>
                <c:pt idx="7">
                  <c:v>21600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2A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A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3A29"/>
              </a:solidFill>
              <a:effectLst/>
            </c:spPr>
          </c:dPt>
          <c:dPt>
            <c:idx val="1"/>
            <c:bubble3D val="0"/>
            <c:spPr>
              <a:solidFill>
                <a:srgbClr val="E8A0A8"/>
              </a:solidFill>
              <a:effectLst/>
            </c:spPr>
          </c:dPt>
          <c:dPt>
            <c:idx val="2"/>
            <c:bubble3D val="0"/>
            <c:spPr>
              <a:solidFill>
                <a:srgbClr val="8DB59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Team</c:v>
                </c:pt>
                <c:pt idx="1">
                  <c:v>Tools &amp; marketing</c:v>
                </c:pt>
                <c:pt idx="2">
                  <c:v>Contingency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53800</c:v>
                </c:pt>
                <c:pt idx="1">
                  <c:v>14000</c:v>
                </c:pt>
                <c:pt idx="2">
                  <c:v>6780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tagline. Another Home is a free browser game on itch.io; we pitch its full Steam release with a $75k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3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x_StudyMate/game_planning/another_home/art/room_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11480"/>
            <a:ext cx="4206240" cy="36484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Another Home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C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goals. Just home.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comfy room, home or whatever designer — full Steam release of the itch.io hit by lane (emiwa)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Producer: Abdulazizov Abduazim · Director: Alexey · Budget $75,000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Cozy isometric home-decorating sandbox · Steam (PC, Steam Deck) · $9.99</a:t>
            </a:r>
            <a:endParaRPr lang="en-US" sz="1300" dirty="0"/>
          </a:p>
        </p:txBody>
      </p:sp>
      <p:pic>
        <p:nvPicPr>
          <p:cNvPr id="4" name="Image 0" descr="/home/user/Claudex_StudyMate/game_planning/another_home/art/room_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3931920" cy="34107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3258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709160" y="1435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709160" y="1691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Cozy sandbox / decorating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75120" y="13258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12280" y="1435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691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+ free browser version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0" y="242316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709160" y="2532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 · DLC $2.99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242316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812280" y="2532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16–30, cozy &amp; design fans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0" y="35204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709160" y="3630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70916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20–60 min, endless replay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675120" y="35204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812280" y="3630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TIME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81228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months · $75,000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Trailer — 30-second storyboard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Another Home” · shown on Steam page, TikTok and at Next Fest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user/Claudex_StudyMate/game_planning/another_home/art/room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554480" cy="1344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566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grey room. Text: “My first apartment was empty…”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home/user/Claudex_StudyMate/game_planning/another_home/art/room_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600200"/>
            <a:ext cx="1554480" cy="1344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97480" y="3063240"/>
            <a:ext cx="411480" cy="411480"/>
          </a:xfrm>
          <a:prstGeom prst="ellipse">
            <a:avLst/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6974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20040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3566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satisfying placement: rug pops, sofa squishes, lamp clicks 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6344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/home/user/Claudex_StudyMate/game_planning/another_home/art/room_n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00200"/>
            <a:ext cx="1554480" cy="13441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00600" y="3063240"/>
            <a:ext cx="411480" cy="411480"/>
          </a:xfrm>
          <a:prstGeom prst="ellipse">
            <a:avLst/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8006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30352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00600" y="3566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starts, evening falls, cat curls up on the rug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6656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858000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Another Home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6903720" y="3063240"/>
            <a:ext cx="411480" cy="411480"/>
          </a:xfrm>
          <a:prstGeom prst="ellipse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903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40664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 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903720" y="3566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“…so I made another home.” Logo + “Wishlist on Steam”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relaxing — nothing can go wrong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17320" y="1554480"/>
            <a:ext cx="2834640" cy="2834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6CFC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10312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min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cycle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08860" y="1028700"/>
            <a:ext cx="1051560" cy="1051560"/>
          </a:xfrm>
          <a:prstGeom prst="ellipse">
            <a:avLst/>
          </a:prstGeom>
          <a:solidFill>
            <a:srgbClr val="5B3A2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4580" y="102870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space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36295" y="1737360"/>
            <a:ext cx="1051560" cy="1051560"/>
          </a:xfrm>
          <a:prstGeom prst="ellipse">
            <a:avLst/>
          </a:prstGeom>
          <a:solidFill>
            <a:srgbClr val="E8A0A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2015" y="17373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furniture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36295" y="3154680"/>
            <a:ext cx="1051560" cy="1051560"/>
          </a:xfrm>
          <a:prstGeom prst="ellipse">
            <a:avLst/>
          </a:prstGeom>
          <a:solidFill>
            <a:srgbClr val="8DB5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2015" y="31546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&amp; adjust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08860" y="3863340"/>
            <a:ext cx="1051560" cy="1051560"/>
          </a:xfrm>
          <a:prstGeom prst="ellipse">
            <a:avLst/>
          </a:prstGeom>
          <a:solidFill>
            <a:srgbClr val="F2C66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54580" y="38633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mood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81425" y="3154680"/>
            <a:ext cx="1051560" cy="1051560"/>
          </a:xfrm>
          <a:prstGeom prst="ellipse">
            <a:avLst/>
          </a:prstGeom>
          <a:solidFill>
            <a:srgbClr val="E8A0A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27145" y="31546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Admire &amp; share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81425" y="1737360"/>
            <a:ext cx="1051560" cy="1051560"/>
          </a:xfrm>
          <a:prstGeom prst="ellipse">
            <a:avLst/>
          </a:prstGeom>
          <a:solidFill>
            <a:srgbClr val="8DB5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7145" y="17373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new pieces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37160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0352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Satisfying touch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pops, squishes and makes a soft sound.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246888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30352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Cozy Requests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suggest themes and reward new furniture sets.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35661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30352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furniture drops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updates bring players back every month.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Selling Proposition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pressure-free creativity — the calmest decorating game on Steam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581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goals, no stress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timer, no score, no fail state. Every choice is the right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600200"/>
            <a:ext cx="731520" cy="731520"/>
          </a:xfrm>
          <a:prstGeom prst="ellipse">
            <a:avLst/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581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ASMR feel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sounds are the #1 thing players praise in itch.io comments.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91840"/>
            <a:ext cx="731520" cy="731520"/>
          </a:xfrm>
          <a:prstGeom prst="ellipse">
            <a:avLst/>
          </a:prstGeom>
          <a:solidFill>
            <a:srgbClr val="8DB596"/>
          </a:solidFill>
          <a:ln w="12700">
            <a:solidFill>
              <a:srgbClr val="8DB5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273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living catalogue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657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1,000 pieces at launch + free furniture every month.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91840"/>
            <a:ext cx="731520" cy="731520"/>
          </a:xfrm>
          <a:prstGeom prst="ellipse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3273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 together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657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co-op for 2–4 friends, photo mode, postcards.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Goal-less cozy builders sell — and players already love this exact game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616k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of Tiny Glade sold in its first month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GameDiscoverCo, 2024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51760" y="1645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0.6–1.1M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copies of Townscaper (under $6)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— verify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54880" y="1645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DB5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 for “diorama”, the dev’s Steam version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reviews, Steam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41732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0" y="1645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≈180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comments on the free itch.io page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emiwa.itch.io/home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Trends: Steam Deck growth · #cozygames and room-makeover content on TikTok · players ask for “more furniture” and “bigger houses”.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vs. price — Another Home owns the free, affordable corner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5120640" cy="3291840"/>
          </a:xfrm>
          <a:prstGeom prst="rect">
            <a:avLst/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926080"/>
            <a:ext cx="5120640" cy="0"/>
          </a:xfrm>
          <a:prstGeom prst="line">
            <a:avLst/>
          </a:prstGeom>
          <a:noFill/>
          <a:ln w="19050">
            <a:solidFill>
              <a:srgbClr val="D9C3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280160"/>
            <a:ext cx="0" cy="3291840"/>
          </a:xfrm>
          <a:prstGeom prst="line">
            <a:avLst/>
          </a:prstGeom>
          <a:noFill/>
          <a:ln w="19050">
            <a:solidFill>
              <a:srgbClr val="D9C3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freedom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12801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2062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1452067"/>
            <a:ext cx="182880" cy="182880"/>
          </a:xfrm>
          <a:prstGeom prst="ellipse">
            <a:avLst/>
          </a:prstGeom>
          <a:solidFill>
            <a:srgbClr val="B8A79C"/>
          </a:solidFill>
          <a:ln w="12700">
            <a:solidFill>
              <a:srgbClr val="B8A79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165323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Flipper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37437" y="2110435"/>
            <a:ext cx="182880" cy="182880"/>
          </a:xfrm>
          <a:prstGeom prst="ellipse">
            <a:avLst/>
          </a:prstGeom>
          <a:solidFill>
            <a:srgbClr val="B8A79C"/>
          </a:solidFill>
          <a:ln w="12700">
            <a:solidFill>
              <a:srgbClr val="B8A7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5917" y="231160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9123" y="2670048"/>
            <a:ext cx="182880" cy="182880"/>
          </a:xfrm>
          <a:prstGeom prst="ellipse">
            <a:avLst/>
          </a:prstGeom>
          <a:solidFill>
            <a:srgbClr val="B8A79C"/>
          </a:solidFill>
          <a:ln w="12700">
            <a:solidFill>
              <a:srgbClr val="B8A79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7603" y="28712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Glade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17059" y="3822192"/>
            <a:ext cx="182880" cy="182880"/>
          </a:xfrm>
          <a:prstGeom prst="ellipse">
            <a:avLst/>
          </a:prstGeom>
          <a:solidFill>
            <a:srgbClr val="B8A79C"/>
          </a:solidFill>
          <a:ln w="12700">
            <a:solidFill>
              <a:srgbClr val="B8A7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85539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Townscaper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85155" y="4151376"/>
            <a:ext cx="182880" cy="182880"/>
          </a:xfrm>
          <a:prstGeom prst="ellipse">
            <a:avLst/>
          </a:prstGeom>
          <a:solidFill>
            <a:srgbClr val="B8A79C"/>
          </a:solidFill>
          <a:ln w="12700">
            <a:solidFill>
              <a:srgbClr val="B8A79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3635" y="4352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diorama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31336" y="3033979"/>
            <a:ext cx="310896" cy="310896"/>
          </a:xfrm>
          <a:prstGeom prst="ellipse">
            <a:avLst/>
          </a:prstGeom>
          <a:solidFill>
            <a:srgbClr val="E8A0A8"/>
          </a:solidFill>
          <a:ln w="25400">
            <a:solidFill>
              <a:srgbClr val="5B3A2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63824" y="336316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1280160"/>
            <a:ext cx="2286000" cy="3291840"/>
          </a:xfrm>
          <a:prstGeom prst="roundRect">
            <a:avLst>
              <a:gd name="adj" fmla="val 48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8368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spot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182880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personal than Townscaper and Tiny Glade (interiors, your own room)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 than Unpacking and House Flipper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price of $9.99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Persona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Another Home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914400" cy="914400"/>
          </a:xfrm>
          <a:prstGeom prst="ellipse">
            <a:avLst/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Mina, 22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student, Seoul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Stardew Valley, Unpacking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cozy room-makeover TikToks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Steam Deck, plays in bed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≈ $15 / month on games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886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something calm before sleep — no pressure.”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508760"/>
            <a:ext cx="914400" cy="914400"/>
          </a:xfrm>
          <a:prstGeom prst="ellipse">
            <a:avLst/>
          </a:prstGeom>
          <a:solidFill>
            <a:srgbClr val="8DB596"/>
          </a:solidFill>
          <a:ln w="12700">
            <a:solidFill>
              <a:srgbClr val="8DB5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Jake, 29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worker, Toronto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606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Townscaper, Minecraft creative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LEGO and dioramas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co-op with his partner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games on Steam sales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886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work I just want to build something nice.”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&amp; Gross Revenue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scenario · 3 years after launch · all figures USD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$9.99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71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game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$2.99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DLC pack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3017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$4.99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17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Soundtrack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3840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840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version (tips)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108960" y="1188720"/>
          <a:ext cx="3291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67512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gross revenue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75120" y="160020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1228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812280" y="19476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$38k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635240" y="1691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 wishlists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675120" y="260604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81228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812280" y="2953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$207k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7635240" y="2697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wishlists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675120" y="361188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812280" y="3703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812280" y="39593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$854k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7635240" y="3703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wishlists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Estimation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TAM → SAM → SOM (Steam)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3566160" cy="3566160"/>
          </a:xfrm>
          <a:prstGeom prst="ellipse">
            <a:avLst/>
          </a:prstGeom>
          <a:solidFill>
            <a:srgbClr val="F3D6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377440"/>
            <a:ext cx="2468880" cy="2468880"/>
          </a:xfrm>
          <a:prstGeom prst="ellipse">
            <a:avLst/>
          </a:prstGeom>
          <a:solidFill>
            <a:srgbClr val="E8A0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3474720"/>
            <a:ext cx="1371600" cy="1371600"/>
          </a:xfrm>
          <a:prstGeom prst="ellipse">
            <a:avLst/>
          </a:prstGeom>
          <a:solidFill>
            <a:srgbClr val="5B3A2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975k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6.5M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32588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206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6.5M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players who buy cozy / sandbox games (≈ 5% of ~130M MAU)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42316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· 975k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them, interested in home decorating under $15 (15%)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52044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1206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· 15k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we can win in Year 1 (≈ 1.5% of SAM)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572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public figures — see Market Estimation sheet in the financial model.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B3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6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scenario KPIs for the first year after launch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6E4A37"/>
          </a:solidFill>
          <a:ln w="12700">
            <a:solidFill>
              <a:srgbClr val="6E4A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C6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wishlists at launch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3716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6E4A37"/>
          </a:solidFill>
          <a:ln w="12700">
            <a:solidFill>
              <a:srgbClr val="6E4A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64408" y="1554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264408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in Year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71616" y="13716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6E4A37"/>
          </a:solidFill>
          <a:ln w="12700">
            <a:solidFill>
              <a:srgbClr val="6E4A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71616" y="1554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71616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Steam reviews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6E4A37"/>
          </a:solidFill>
          <a:ln w="12700">
            <a:solidFill>
              <a:srgbClr val="6E4A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004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C6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$113k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86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Year 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64408" y="30175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6E4A37"/>
          </a:solidFill>
          <a:ln w="12700">
            <a:solidFill>
              <a:srgbClr val="6E4A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64408" y="32004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3264408" y="3886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buy a DLC pack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71616" y="30175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6E4A37"/>
          </a:solidFill>
          <a:ln w="12700">
            <a:solidFill>
              <a:srgbClr val="6E4A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71616" y="32004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C6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071616" y="3886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months to launch, then monthly furniture drops and DLC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1234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078480" y="1234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779520" y="1234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234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181600" y="1234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882640" y="1234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234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284720" y="1234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85760" y="1234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07380" y="1417320"/>
            <a:ext cx="0" cy="3246120"/>
          </a:xfrm>
          <a:prstGeom prst="line">
            <a:avLst/>
          </a:prstGeom>
          <a:noFill/>
          <a:ln w="19050">
            <a:solidFill>
              <a:srgbClr val="5B3A29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57200" y="1508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1545336"/>
            <a:ext cx="701040" cy="201168"/>
          </a:xfrm>
          <a:prstGeom prst="roundRect">
            <a:avLst>
              <a:gd name="adj" fmla="val 36364"/>
            </a:avLst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1819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rebuild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27960" y="1856232"/>
            <a:ext cx="1051560" cy="201168"/>
          </a:xfrm>
          <a:prstGeom prst="roundRect">
            <a:avLst>
              <a:gd name="adj" fmla="val 36364"/>
            </a:avLst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130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page 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78480" y="2167128"/>
            <a:ext cx="350520" cy="201168"/>
          </a:xfrm>
          <a:prstGeom prst="roundRect">
            <a:avLst>
              <a:gd name="adj" fmla="val 36364"/>
            </a:avLst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441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2478024"/>
            <a:ext cx="1752600" cy="201168"/>
          </a:xfrm>
          <a:prstGeom prst="roundRect">
            <a:avLst>
              <a:gd name="adj" fmla="val 36364"/>
            </a:avLst>
          </a:prstGeom>
          <a:solidFill>
            <a:srgbClr val="8DB596"/>
          </a:solidFill>
          <a:ln w="12700">
            <a:solidFill>
              <a:srgbClr val="8DB5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752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 &amp; Cozy Requests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79520" y="2788920"/>
            <a:ext cx="1051560" cy="201168"/>
          </a:xfrm>
          <a:prstGeom prst="roundRect">
            <a:avLst>
              <a:gd name="adj" fmla="val 36364"/>
            </a:avLst>
          </a:prstGeom>
          <a:solidFill>
            <a:srgbClr val="8DB596"/>
          </a:solidFill>
          <a:ln w="12700">
            <a:solidFill>
              <a:srgbClr val="8DB5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Next Fest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31080" y="3099816"/>
            <a:ext cx="350520" cy="201168"/>
          </a:xfrm>
          <a:prstGeom prst="roundRect">
            <a:avLst>
              <a:gd name="adj" fmla="val 36364"/>
            </a:avLst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374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localization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31080" y="3410712"/>
            <a:ext cx="701040" cy="201168"/>
          </a:xfrm>
          <a:prstGeom prst="roundRect">
            <a:avLst>
              <a:gd name="adj" fmla="val 36364"/>
            </a:avLst>
          </a:prstGeom>
          <a:solidFill>
            <a:srgbClr val="8DB596"/>
          </a:solidFill>
          <a:ln w="12700">
            <a:solidFill>
              <a:srgbClr val="8DB59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32120" y="3721608"/>
            <a:ext cx="350520" cy="201168"/>
          </a:xfrm>
          <a:prstGeom prst="roundRect">
            <a:avLst>
              <a:gd name="adj" fmla="val 36364"/>
            </a:avLst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995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furniture drops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82640" y="4032504"/>
            <a:ext cx="2804160" cy="201168"/>
          </a:xfrm>
          <a:prstGeom prst="roundRect">
            <a:avLst>
              <a:gd name="adj" fmla="val 36364"/>
            </a:avLst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 packs #1–2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4343400"/>
            <a:ext cx="1752600" cy="201168"/>
          </a:xfrm>
          <a:prstGeom prst="roundRect">
            <a:avLst>
              <a:gd name="adj" fmla="val 36364"/>
            </a:avLst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make it happen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(freelance, remote)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01952"/>
            <a:ext cx="310896" cy="310896"/>
          </a:xfrm>
          <a:prstGeom prst="ellipse">
            <a:avLst/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programmer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months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04872"/>
            <a:ext cx="310896" cy="310896"/>
          </a:xfrm>
          <a:prstGeom prst="ellipse">
            <a:avLst/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Isometric 2D artist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months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907792"/>
            <a:ext cx="310896" cy="310896"/>
          </a:xfrm>
          <a:prstGeom prst="ellipse">
            <a:avLst/>
          </a:prstGeom>
          <a:solidFill>
            <a:srgbClr val="8DB596"/>
          </a:solidFill>
          <a:ln w="12700">
            <a:solidFill>
              <a:srgbClr val="8DB5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880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410712"/>
            <a:ext cx="310896" cy="310896"/>
          </a:xfrm>
          <a:prstGeom prst="ellipse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designer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913632"/>
            <a:ext cx="310896" cy="310896"/>
          </a:xfrm>
          <a:prstGeom prst="ellipse">
            <a:avLst/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3931920" cy="731520"/>
          </a:xfrm>
          <a:prstGeom prst="roundRect">
            <a:avLst>
              <a:gd name="adj" fmla="val 15000"/>
            </a:avLst>
          </a:prstGeom>
          <a:solidFill>
            <a:srgbClr val="5B3A29"/>
          </a:solidFill>
          <a:ln w="12700">
            <a:solidFill>
              <a:srgbClr val="5B3A2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93776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6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$75,000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budget (10 months)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130552"/>
            <a:ext cx="3931920" cy="731520"/>
          </a:xfrm>
          <a:prstGeom prst="roundRect">
            <a:avLst>
              <a:gd name="adj" fmla="val 15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937760" y="22219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2221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original developer lane (emiwa)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980944"/>
            <a:ext cx="3931920" cy="731520"/>
          </a:xfrm>
          <a:prstGeom prst="roundRect">
            <a:avLst>
              <a:gd name="adj" fmla="val 15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937760" y="30723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0723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cozy streamers &amp; TikTokers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831336"/>
            <a:ext cx="3931920" cy="731520"/>
          </a:xfrm>
          <a:prstGeom prst="roundRect">
            <a:avLst>
              <a:gd name="adj" fmla="val 15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937760" y="39227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 Next Fest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39227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slot before launch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Cost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$74,580 planned of $75,000 · $420 left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943600" y="1188720"/>
          <a:ext cx="2743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035040" y="397764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F6E1D3"/>
          </a:solidFill>
          <a:ln w="12700">
            <a:solidFill>
              <a:srgbClr val="F6E1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172200" y="4023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goes into the team — content is the product.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Home · Team 7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B3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x_StudyMate/game_planning/another_home/art/room_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640080"/>
            <a:ext cx="3840480" cy="33284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22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goals. Just home.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6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$75k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87452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10 months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6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in Year 1 (Base)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6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703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6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after 3 years (Base)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· Team 7 · Intro to Game Planning 2026-2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Another Home — Pitchdeck</dc:title>
  <dc:subject>PptxGenJS Presentation</dc:subject>
  <dc:creator>PptxGenJS</dc:creator>
  <cp:lastModifiedBy>PptxGenJS</cp:lastModifiedBy>
  <cp:revision>1</cp:revision>
  <dcterms:created xsi:type="dcterms:W3CDTF">2026-09-23T06:26:49Z</dcterms:created>
  <dcterms:modified xsi:type="dcterms:W3CDTF">2026-09-23T06:26:49Z</dcterms:modified>
</cp:coreProperties>
</file>